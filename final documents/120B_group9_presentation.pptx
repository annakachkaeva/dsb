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.jpe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5" name="Shape 1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Dear Professor Talha, dear Mr. Ebby,</a:t>
            </a:r>
          </a:p>
          <a:p>
            <a:pPr/>
            <a:r>
              <a:t>We want to present you with a result of our teamwork.</a:t>
            </a:r>
          </a:p>
          <a:p>
            <a:pPr/>
            <a:r>
              <a:t>Our team is:</a:t>
            </a:r>
          </a:p>
          <a:p>
            <a:pPr/>
            <a:r>
              <a:t>Kevinkumar - co-lead</a:t>
            </a:r>
          </a:p>
          <a:p>
            <a:pPr/>
            <a:r>
              <a:t>Amal - Data Analyst</a:t>
            </a:r>
          </a:p>
          <a:p>
            <a:pPr/>
            <a:r>
              <a:t>Anush - Market Researcher</a:t>
            </a:r>
          </a:p>
          <a:p>
            <a:pPr/>
            <a:r>
              <a:t>And me - Team Lead, Anna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Shape 1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First of all, a bit of theory about any market. Two main mechanisms are important to understand any price dynamics, no matter what we are talking about— from apples to oil.</a:t>
            </a:r>
          </a:p>
          <a:p>
            <a:pPr/>
            <a:r>
              <a:t>These mechanisms are supply/demand and inflation.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5" name="Shape 18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Firstly, about supply and demand.</a:t>
            </a:r>
          </a:p>
          <a:p>
            <a:pPr/>
            <a:r>
              <a:t>Demand is how needed a product is (red line in the picture).</a:t>
            </a:r>
          </a:p>
          <a:p>
            <a:pPr/>
            <a:r>
              <a:t>Supply is the quantity in which it is available (blue line).</a:t>
            </a:r>
          </a:p>
          <a:p>
            <a:pPr/>
            <a:r>
              <a:t>If you are in great need of any item, you will be easily paying a high price for it. And vice versa. You would never pay a lot for a common thing. The same mechanism applies to any commodity.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9" name="Shape 18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Second mechanism is inflation.</a:t>
            </a:r>
          </a:p>
          <a:p>
            <a:pPr/>
            <a:r>
              <a:t>For the same amount of money today, you can buy fewer goods. Modern economists suggest that inflation around 2% is healthy and even good for the economy.</a:t>
            </a:r>
          </a:p>
          <a:p>
            <a:pPr/>
            <a:r>
              <a:t>You can feel inflation yourself. An example with coffee is very straightforward; everyone has experienced like that.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Shape 1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 after theory to real-world commodities:</a:t>
            </a:r>
          </a:p>
          <a:p>
            <a:pPr/>
            <a:r>
              <a:t>Metals: Gold and Silver.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8" name="Shape 1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have a huge amount of data on gold prices. We have data from 1915.</a:t>
            </a:r>
          </a:p>
          <a:p>
            <a:pPr/>
            <a:r>
              <a:t>There is a curious thing about prices till 1975. It is almost a flat line!</a:t>
            </a:r>
          </a:p>
          <a:p>
            <a:pPr/>
            <a:r>
              <a:t>⁃Till 1975, gold prices were fixed by the government. So none of the mechanisms we described before were influencing it.</a:t>
            </a:r>
          </a:p>
          <a:p>
            <a:pPr/>
          </a:p>
          <a:p>
            <a:pPr/>
            <a:r>
              <a:t>After 1975, gold prices were no longer fixed but determined by the market.</a:t>
            </a:r>
          </a:p>
          <a:p>
            <a:pPr/>
            <a:r>
              <a:t>-1980: Height inflation. Reason: investors’ speculative demand.</a:t>
            </a:r>
          </a:p>
          <a:p>
            <a:pPr/>
            <a:r>
              <a:t>-2011: Several countries in the European Union were in default. That provoked interest in gold, which increased demand and therefore increased prices.</a:t>
            </a:r>
          </a:p>
          <a:p>
            <a:pPr/>
            <a:r>
              <a:t>-2022: After COVID inflation, global crisis, wars. All this provoked a huge spike!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3" name="Shape 2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Silver copying trends of gold prices, with one small exception.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Shape 2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On this slide, you can easily see that gold and silver prices are rising and falling together.</a:t>
            </a:r>
          </a:p>
          <a:p>
            <a:pPr/>
            <a:r>
              <a:t>But the silver index is usually lower, with an exception around 1980.</a:t>
            </a:r>
          </a:p>
          <a:p>
            <a:pPr/>
            <a:r>
              <a:t>Around 1980, a spike in silver was provoked by Hunter Brothers; they got 70% of the world’s silver and speculated on the prices.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1" name="Shape 2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Let us see what was happening with oil prices through all those years.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6" name="Shape 21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Oil became an important commodity globally by the 1930s.</a:t>
            </a:r>
          </a:p>
          <a:p>
            <a:pPr/>
            <a:r>
              <a:t>For years between 1946 and 1973, oil prices remained stable; the world was rebuilding itself after WW2.</a:t>
            </a:r>
          </a:p>
          <a:p>
            <a:pPr/>
            <a:r>
              <a:t>In 1973, OPEC countries proclaimed an oil embargo. It created a huge demand, and therefore prices rose.</a:t>
            </a:r>
          </a:p>
          <a:p>
            <a:pPr/>
            <a:r>
              <a:t>In 1980, the Iran/Iraq war decreased oil supplies again, which increased prices even more.</a:t>
            </a:r>
          </a:p>
          <a:p>
            <a:pPr/>
            <a:r>
              <a:t>In the years from 1980 to 1998, market adjustments and lower demand reduced prices.</a:t>
            </a:r>
          </a:p>
          <a:p>
            <a:pPr/>
            <a:r>
              <a:t>1999 to 2008: Great years of globalisation. Global demand and economic growth increased oil demand, which, as a result, increased prices.</a:t>
            </a:r>
          </a:p>
          <a:p>
            <a:pPr/>
            <a:r>
              <a:t>2008-2009: Global financial crisis reduced demand and, as a result, prices.</a:t>
            </a:r>
          </a:p>
          <a:p>
            <a:pPr/>
            <a:r>
              <a:t>2010-2014: Prices recovered after the financial crisis.</a:t>
            </a:r>
          </a:p>
          <a:p>
            <a:pPr/>
            <a:r>
              <a:t>2014-2016: Oil oversupply caused a major price fall. OPEC has a mechanism to regulate oil prices by setting a maximum limit of oil production.</a:t>
            </a:r>
          </a:p>
          <a:p>
            <a:pPr/>
          </a:p>
          <a:p>
            <a:pPr/>
            <a:r>
              <a:t>And now to the most recent observations: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0" name="Shape 2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most recent observations covering the past five years.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4" name="Shape 2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2020 - COVID-19 reduced global oil demand. People were locked at home. Lower demand for gas for all types of transport.</a:t>
            </a:r>
          </a:p>
          <a:p>
            <a:pPr/>
            <a:r>
              <a:t>2021-2022 - Economic recovery and supply issues increased prices.</a:t>
            </a:r>
            <a:br/>
            <a:r>
              <a:t>In 2022, oil prices rose. The The Russia/Ukraine war caused a 30% spike.</a:t>
            </a:r>
          </a:p>
          <a:p>
            <a:pPr/>
            <a:r>
              <a:t>Four years later in 2026, oil prices rose again because of the Iran/USA war. The war caused a 60% spike.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After 2020, gold prices started rising as an answer to uncertainty connected to trading wars, COVID-19, and actual physical wars between countries.</a:t>
            </a:r>
          </a:p>
          <a:p>
            <a:pPr/>
            <a:r>
              <a:t>Metal prices stay a commodity for those seeking stability.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2" name="Shape 2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Crypto and other currencies as dollar alternatives are experiencing increased demand in recent years.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6" name="Shape 2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And now to the most important part. To prognosis.</a:t>
            </a:r>
          </a:p>
          <a:p>
            <a:pPr/>
            <a:r>
              <a:t>We came up with two investment strategies. Short term and long-term.</a:t>
            </a:r>
          </a:p>
          <a:p>
            <a:pPr/>
          </a:p>
          <a:p>
            <a:pPr/>
            <a:r>
              <a:t>These strategies could not be considered as individual investment recommendations.</a:t>
            </a:r>
          </a:p>
          <a:p>
            <a:pPr/>
          </a:p>
          <a:p>
            <a:pPr/>
            <a:r>
              <a:t>And one more important announcement here. We provide our answer to the question “What to buy now?”.</a:t>
            </a:r>
          </a:p>
          <a:p>
            <a:pPr/>
            <a:r>
              <a:t>Investors should not forget about diversification. We provide our view only on the main asset in the portfolio.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1" name="Shape 2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Highly volatile markets can provide great profit in the short term.</a:t>
            </a:r>
          </a:p>
          <a:p>
            <a:pPr/>
            <a:r>
              <a:t>For now, USD is still a reserve currency. So it is considered to be relatively stable.</a:t>
            </a:r>
          </a:p>
          <a:p>
            <a:pPr/>
          </a:p>
          <a:p>
            <a:pPr/>
            <a:r>
              <a:t>Here are the risks. The dollar must be monitored closely. After a new reserve currency occurs, the dollar will lose its value swiftly as it happened with all the previous reserved currencies before it.  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5" name="Shape 2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Next strategy is for long-term investments, 5-10 years and more.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0" name="Shape 2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 all the time gold prices were rising a bit faster than inflation. So it is a great choice for defending your money against it.</a:t>
            </a:r>
          </a:p>
          <a:p>
            <a:pPr/>
            <a:r>
              <a:t>The main risk is the very high price now and a risk of further decrease in price in metals.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4" name="Shape 2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Diversify your investments.</a:t>
            </a:r>
          </a:p>
          <a:p>
            <a:pPr/>
            <a:r>
              <a:t>It is especially important in hard times, as right now.</a:t>
            </a:r>
          </a:p>
          <a:p>
            <a:pPr/>
            <a:r>
              <a:t>Investors should maintain diversified portfolios across different asset classes and geographic regions. A combination of equities, gold, and other assets can help reduce exposure to currency fluctuations and geopolitical risks.</a:t>
            </a:r>
          </a:p>
          <a:p>
            <a:pPr/>
            <a:r>
              <a:t>Companies with global operations may provide additional resilience during periods of economic uncertainty.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8" name="Shape 2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 you for your attention!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nna Kachkaeva (Lead)…"/>
          <p:cNvSpPr txBox="1"/>
          <p:nvPr>
            <p:ph type="body" idx="21"/>
          </p:nvPr>
        </p:nvSpPr>
        <p:spPr>
          <a:xfrm>
            <a:off x="1201340" y="10288799"/>
            <a:ext cx="21971003" cy="22080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792479">
              <a:defRPr sz="3455"/>
            </a:pPr>
            <a:r>
              <a:t>Anna Kachkaeva</a:t>
            </a:r>
            <a:r>
              <a:rPr>
                <a:solidFill>
                  <a:srgbClr val="5E5E5E"/>
                </a:solidFill>
              </a:rPr>
              <a:t> (Lead)</a:t>
            </a:r>
            <a:endParaRPr>
              <a:solidFill>
                <a:srgbClr val="5E5E5E"/>
              </a:solidFill>
            </a:endParaRPr>
          </a:p>
          <a:p>
            <a:pPr defTabSz="792479">
              <a:defRPr sz="3455"/>
            </a:pPr>
            <a:r>
              <a:t>Kevinkumar Chandubhai Lad</a:t>
            </a:r>
            <a:r>
              <a:rPr>
                <a:solidFill>
                  <a:srgbClr val="5E5E5E"/>
                </a:solidFill>
              </a:rPr>
              <a:t> (co-Lead)</a:t>
            </a:r>
            <a:endParaRPr>
              <a:solidFill>
                <a:srgbClr val="5E5E5E"/>
              </a:solidFill>
            </a:endParaRPr>
          </a:p>
          <a:p>
            <a:pPr defTabSz="792479">
              <a:defRPr sz="3455"/>
            </a:pPr>
            <a:r>
              <a:t>Amal Siby </a:t>
            </a:r>
            <a:r>
              <a:rPr>
                <a:solidFill>
                  <a:srgbClr val="5E5E5E"/>
                </a:solidFill>
              </a:rPr>
              <a:t>(Data Analyst)</a:t>
            </a:r>
            <a:endParaRPr>
              <a:solidFill>
                <a:srgbClr val="5E5E5E"/>
              </a:solidFill>
            </a:endParaRPr>
          </a:p>
          <a:p>
            <a:pPr defTabSz="792479">
              <a:defRPr sz="3455"/>
            </a:pPr>
            <a:r>
              <a:t>Anush Kumar Kodirekka </a:t>
            </a:r>
            <a:r>
              <a:rPr>
                <a:solidFill>
                  <a:srgbClr val="5E5E5E"/>
                </a:solidFill>
              </a:rPr>
              <a:t>(Market Researcher)</a:t>
            </a:r>
          </a:p>
        </p:txBody>
      </p:sp>
      <p:sp>
        <p:nvSpPr>
          <p:cNvPr id="172" name="Market Dynamics and Investment Strategies: Analysis of Gold, Silver, Oil, and Currencies"/>
          <p:cNvSpPr txBox="1"/>
          <p:nvPr>
            <p:ph type="ctrTitle"/>
          </p:nvPr>
        </p:nvSpPr>
        <p:spPr>
          <a:xfrm>
            <a:off x="1206496" y="2435291"/>
            <a:ext cx="21971004" cy="4648201"/>
          </a:xfrm>
          <a:prstGeom prst="rect">
            <a:avLst/>
          </a:prstGeom>
        </p:spPr>
        <p:txBody>
          <a:bodyPr/>
          <a:lstStyle>
            <a:lvl1pPr defTabSz="12700">
              <a:defRPr spc="0" sz="7800"/>
            </a:lvl1pPr>
          </a:lstStyle>
          <a:p>
            <a:pPr/>
            <a:r>
              <a:t>Market Dynamics and Investment Strategies: Analysis of Gold, Silver, Oil, and Currencies</a:t>
            </a:r>
          </a:p>
        </p:txBody>
      </p:sp>
      <p:sp>
        <p:nvSpPr>
          <p:cNvPr id="173" name="Data Science &amp; Business team 9 projec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4800"/>
            </a:pPr>
            <a:r>
              <a:t>Data Science &amp; Business </a:t>
            </a:r>
            <a:r>
              <a:rPr>
                <a:solidFill>
                  <a:srgbClr val="5E5E5E"/>
                </a:solidFill>
              </a:rPr>
              <a:t>team 9 project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he two fundamental market mechanisms"/>
          <p:cNvSpPr txBox="1"/>
          <p:nvPr>
            <p:ph type="title"/>
          </p:nvPr>
        </p:nvSpPr>
        <p:spPr>
          <a:xfrm>
            <a:off x="871601" y="4533900"/>
            <a:ext cx="22640798" cy="4648200"/>
          </a:xfrm>
          <a:prstGeom prst="rect">
            <a:avLst/>
          </a:prstGeom>
        </p:spPr>
        <p:txBody>
          <a:bodyPr/>
          <a:lstStyle>
            <a:lvl1pPr algn="ctr">
              <a:defRPr spc="-218" sz="10900"/>
            </a:lvl1pPr>
          </a:lstStyle>
          <a:p>
            <a:pPr/>
            <a:r>
              <a:t>The two fundamental market mechanisms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queue_for_bread.jpeg" descr="queue_for_bread.jpeg"/>
          <p:cNvPicPr>
            <a:picLocks noChangeAspect="1"/>
          </p:cNvPicPr>
          <p:nvPr>
            <p:ph type="pic" idx="21"/>
          </p:nvPr>
        </p:nvPicPr>
        <p:blipFill>
          <a:blip r:embed="rId3">
            <a:extLst/>
          </a:blip>
          <a:srcRect l="0" t="7294" r="0" b="19825"/>
          <a:stretch>
            <a:fillRect/>
          </a:stretch>
        </p:blipFill>
        <p:spPr>
          <a:xfrm>
            <a:off x="15760700" y="1269999"/>
            <a:ext cx="7423448" cy="5410201"/>
          </a:xfrm>
          <a:prstGeom prst="rect">
            <a:avLst/>
          </a:prstGeom>
        </p:spPr>
      </p:pic>
      <p:pic>
        <p:nvPicPr>
          <p:cNvPr id="182" name="supply.png" descr="supply.png"/>
          <p:cNvPicPr>
            <a:picLocks noChangeAspect="1"/>
          </p:cNvPicPr>
          <p:nvPr>
            <p:ph type="pic" idx="22"/>
          </p:nvPr>
        </p:nvPicPr>
        <p:blipFill>
          <a:blip r:embed="rId4">
            <a:extLst/>
          </a:blip>
          <a:srcRect l="0" t="26652" r="0" b="399"/>
          <a:stretch>
            <a:fillRect/>
          </a:stretch>
        </p:blipFill>
        <p:spPr>
          <a:xfrm>
            <a:off x="15760700" y="7098672"/>
            <a:ext cx="7423560" cy="5415343"/>
          </a:xfrm>
          <a:prstGeom prst="rect">
            <a:avLst/>
          </a:prstGeom>
        </p:spPr>
      </p:pic>
      <p:pic>
        <p:nvPicPr>
          <p:cNvPr id="183" name="Supply-demand-equilibrium.svg" descr="Supply-demand-equilibrium.svg"/>
          <p:cNvPicPr>
            <a:picLocks noChangeAspect="1"/>
          </p:cNvPicPr>
          <p:nvPr>
            <p:ph type="pic" idx="23"/>
          </p:nvPr>
        </p:nvPicPr>
        <p:blipFill>
          <a:blip r:embed="rId5">
            <a:extLst/>
          </a:blip>
          <a:srcRect l="0" t="1747" r="0" b="1747"/>
          <a:stretch>
            <a:fillRect/>
          </a:stretch>
        </p:blipFill>
        <p:spPr>
          <a:xfrm>
            <a:off x="2469993" y="1270000"/>
            <a:ext cx="11650912" cy="1124371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inflation.png" descr="inflation.png"/>
          <p:cNvPicPr>
            <a:picLocks noChangeAspect="1"/>
          </p:cNvPicPr>
          <p:nvPr>
            <p:ph type="pic" idx="21"/>
          </p:nvPr>
        </p:nvPicPr>
        <p:blipFill>
          <a:blip r:embed="rId3">
            <a:extLst/>
          </a:blip>
          <a:srcRect l="6274" t="0" r="4413" b="0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Metals🥇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Metals🥇🥈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ld_prices.png" descr="gold_prices.png"/>
          <p:cNvPicPr>
            <a:picLocks noChangeAspect="1"/>
          </p:cNvPicPr>
          <p:nvPr>
            <p:ph type="pic" idx="23"/>
          </p:nvPr>
        </p:nvPicPr>
        <p:blipFill>
          <a:blip r:embed="rId3">
            <a:extLst/>
          </a:blip>
          <a:srcRect l="3439" t="11415" r="2657" b="0"/>
          <a:stretch>
            <a:fillRect/>
          </a:stretch>
        </p:blipFill>
        <p:spPr>
          <a:xfrm>
            <a:off x="3347243" y="3743353"/>
            <a:ext cx="17689577" cy="7150673"/>
          </a:xfrm>
          <a:prstGeom prst="rect">
            <a:avLst/>
          </a:prstGeom>
        </p:spPr>
      </p:pic>
      <p:sp>
        <p:nvSpPr>
          <p:cNvPr id="196" name="Gold prices over time🥇"/>
          <p:cNvSpPr txBox="1"/>
          <p:nvPr/>
        </p:nvSpPr>
        <p:spPr>
          <a:xfrm>
            <a:off x="6868795" y="1289297"/>
            <a:ext cx="11729721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Gold prices over time🥇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silver_prices.png" descr="silver_prices.png"/>
          <p:cNvPicPr>
            <a:picLocks noChangeAspect="1"/>
          </p:cNvPicPr>
          <p:nvPr>
            <p:ph type="pic" idx="23"/>
          </p:nvPr>
        </p:nvPicPr>
        <p:blipFill>
          <a:blip r:embed="rId3">
            <a:extLst/>
          </a:blip>
          <a:srcRect l="0" t="465" r="0" b="6930"/>
          <a:stretch>
            <a:fillRect/>
          </a:stretch>
        </p:blipFill>
        <p:spPr>
          <a:xfrm>
            <a:off x="3347243" y="2822575"/>
            <a:ext cx="17689577" cy="8070960"/>
          </a:xfrm>
          <a:prstGeom prst="rect">
            <a:avLst/>
          </a:prstGeom>
        </p:spPr>
      </p:pic>
      <p:sp>
        <p:nvSpPr>
          <p:cNvPr id="201" name="Silver prices over time🥈"/>
          <p:cNvSpPr txBox="1"/>
          <p:nvPr/>
        </p:nvSpPr>
        <p:spPr>
          <a:xfrm>
            <a:off x="6856095" y="1289297"/>
            <a:ext cx="12128056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Silver prices over time🥈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ld&amp;silver.png" descr="gold&amp;silver.png"/>
          <p:cNvPicPr>
            <a:picLocks noChangeAspect="1"/>
          </p:cNvPicPr>
          <p:nvPr>
            <p:ph type="pic" idx="23"/>
          </p:nvPr>
        </p:nvPicPr>
        <p:blipFill>
          <a:blip r:embed="rId3">
            <a:extLst/>
          </a:blip>
          <a:srcRect l="0" t="565" r="0" b="565"/>
          <a:stretch>
            <a:fillRect/>
          </a:stretch>
        </p:blipFill>
        <p:spPr>
          <a:xfrm>
            <a:off x="1522214" y="1664714"/>
            <a:ext cx="21339672" cy="10433064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Oil🛢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Oil🛢️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asted-movie.png" descr="pasted-movie.png"/>
          <p:cNvPicPr>
            <a:picLocks noChangeAspect="1"/>
          </p:cNvPicPr>
          <p:nvPr>
            <p:ph type="pic" idx="23"/>
          </p:nvPr>
        </p:nvPicPr>
        <p:blipFill>
          <a:blip r:embed="rId3">
            <a:extLst/>
          </a:blip>
          <a:srcRect l="0" t="5230" r="0" b="0"/>
          <a:stretch>
            <a:fillRect/>
          </a:stretch>
        </p:blipFill>
        <p:spPr>
          <a:xfrm>
            <a:off x="2022078" y="3302617"/>
            <a:ext cx="20339927" cy="7157227"/>
          </a:xfrm>
          <a:prstGeom prst="rect">
            <a:avLst/>
          </a:prstGeom>
        </p:spPr>
      </p:pic>
      <p:sp>
        <p:nvSpPr>
          <p:cNvPr id="214" name="Brent Oil prices over time🛢️"/>
          <p:cNvSpPr txBox="1"/>
          <p:nvPr/>
        </p:nvSpPr>
        <p:spPr>
          <a:xfrm>
            <a:off x="5341016" y="1180727"/>
            <a:ext cx="13701968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Brent Oil prices over time🛢️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he most recent observa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The most recent observations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01850" y="3111500"/>
            <a:ext cx="20180300" cy="7493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ld&amp;silver.png" descr="gold&amp;silver.png"/>
          <p:cNvPicPr>
            <a:picLocks noChangeAspect="1"/>
          </p:cNvPicPr>
          <p:nvPr/>
        </p:nvPicPr>
        <p:blipFill>
          <a:blip r:embed="rId3">
            <a:extLst/>
          </a:blip>
          <a:srcRect l="0" t="565" r="0" b="565"/>
          <a:stretch>
            <a:fillRect/>
          </a:stretch>
        </p:blipFill>
        <p:spPr>
          <a:xfrm>
            <a:off x="3347243" y="2533650"/>
            <a:ext cx="17689577" cy="86485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84030" y="2140404"/>
            <a:ext cx="15815940" cy="94351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Investment strategy A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Investment strategy A</a:t>
            </a:r>
          </a:p>
          <a:p>
            <a:pPr>
              <a:defRPr spc="-119" sz="6000"/>
            </a:pPr>
            <a:r>
              <a:t>(short term)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Currancies"/>
          <p:cNvSpPr txBox="1"/>
          <p:nvPr/>
        </p:nvSpPr>
        <p:spPr>
          <a:xfrm>
            <a:off x="9424225" y="2303047"/>
            <a:ext cx="5535550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Currancies</a:t>
            </a:r>
          </a:p>
        </p:txBody>
      </p:sp>
      <p:sp>
        <p:nvSpPr>
          <p:cNvPr id="239" name="💵 💴 💶 💷"/>
          <p:cNvSpPr txBox="1"/>
          <p:nvPr/>
        </p:nvSpPr>
        <p:spPr>
          <a:xfrm>
            <a:off x="6074412" y="5137149"/>
            <a:ext cx="12235176" cy="344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400" sz="20000"/>
            </a:lvl1pPr>
          </a:lstStyle>
          <a:p>
            <a:pPr/>
            <a:r>
              <a:t>💵 💴 💶 💷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Investment strategy B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Investment strategy B</a:t>
            </a:r>
          </a:p>
          <a:p>
            <a:pPr>
              <a:defRPr spc="-119" sz="6000"/>
            </a:pPr>
            <a:r>
              <a:t>(long term)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Metals as main asset"/>
          <p:cNvSpPr txBox="1"/>
          <p:nvPr/>
        </p:nvSpPr>
        <p:spPr>
          <a:xfrm>
            <a:off x="6925182" y="2115529"/>
            <a:ext cx="10533635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Metals as main asset</a:t>
            </a:r>
          </a:p>
        </p:txBody>
      </p:sp>
      <p:sp>
        <p:nvSpPr>
          <p:cNvPr id="248" name="🥇"/>
          <p:cNvSpPr txBox="1"/>
          <p:nvPr/>
        </p:nvSpPr>
        <p:spPr>
          <a:xfrm>
            <a:off x="10864850" y="5137149"/>
            <a:ext cx="2654300" cy="344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0"/>
            </a:lvl1pPr>
          </a:lstStyle>
          <a:p>
            <a:pPr/>
            <a:r>
              <a:t>🥇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Investment strategy 0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Investment strategy 0</a:t>
            </a:r>
          </a:p>
          <a:p>
            <a:pPr>
              <a:defRPr spc="-119" sz="6000"/>
            </a:pPr>
            <a:r>
              <a:t>(for all times)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hank you for your attention!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t>Thank you for your attention!</a:t>
            </a:r>
          </a:p>
          <a:p>
            <a:pPr>
              <a:lnSpc>
                <a:spcPct val="100000"/>
              </a:lnSpc>
            </a:pPr>
            <a:r>
              <a:t>❤️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